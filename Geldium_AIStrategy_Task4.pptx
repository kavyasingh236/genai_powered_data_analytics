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TATA iQ  ×  GELDIUM FINANCE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9436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AI-Powered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Collections Strategy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926080"/>
            <a:ext cx="5852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Leveraging Agentic AI for Scalable, Fair, and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Effective Debt Management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931920"/>
            <a:ext cx="1645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69080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by: Kavya Balaji Singh  |  AI Transformation Consultant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50292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75120" y="10972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delinquency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463040"/>
            <a:ext cx="1920240" cy="27432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0020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75120" y="21945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analysed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560320"/>
            <a:ext cx="1920240" cy="27432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69748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675120" y="32918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high-risk segments ID'd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475488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—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SYSTEM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customer data to action to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960120"/>
            <a:ext cx="2103120" cy="365760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70992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4320" y="2130552"/>
            <a:ext cx="1828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240280"/>
            <a:ext cx="1901952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demographics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score &amp; utilisation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history (6 months)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balance &amp; DTI ratio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Employment status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304288" y="2651760"/>
            <a:ext cx="10972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04288" y="2423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468880" y="960120"/>
            <a:ext cx="2103120" cy="3657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430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578608" y="170992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Decision Logic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2578608" y="2130552"/>
            <a:ext cx="1828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78608" y="2240280"/>
            <a:ext cx="1901952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model scores each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0–1 (delinquency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tiers: Low / Med / High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Threshold: &gt;0.5 = flagged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608576" y="2651760"/>
            <a:ext cx="10972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08576" y="2423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›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4773168" y="960120"/>
            <a:ext cx="2103120" cy="3657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14300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0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4882896" y="170992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Actions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882896" y="2130552"/>
            <a:ext cx="1828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82896" y="2240280"/>
            <a:ext cx="1901952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risk: no action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Medium: payment reminder SMS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High: personal outreach call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Critical: hardship plan offer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logged for audit trail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912864" y="2651760"/>
            <a:ext cx="10972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912864" y="2423160"/>
            <a:ext cx="1097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</a:rPr>
              <a:t>›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7077456" y="960120"/>
            <a:ext cx="2103120" cy="36576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114300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50608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7187184" y="170992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Learning Loop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7187184" y="2130552"/>
            <a:ext cx="1828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87184" y="2240280"/>
            <a:ext cx="1901952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 tracked per customer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model retraining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drift monitoring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 metrics reviewed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recalibration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Tata iQ — Geldium AI Collections System  |  Task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ROLE OF AGENTIC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decisions vs. human oversight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69080" cy="4114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601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Autonomous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1480" y="148132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acts independently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83080"/>
            <a:ext cx="37033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901952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scoring: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scores all customers daily, generating delinquency probability per customer automatically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560320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Low-risk SMS reminders: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payment reminders sent 5 days before due date for low-to-medium risk customers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3218688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Flagging &amp; routing: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High-risk customers automatically routed to the Collections team queue, prioritised by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3877056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dashboard refresh of delinquency rates, model performance, and outreach outcomes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00600" y="868680"/>
            <a:ext cx="4069080" cy="4114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6012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9601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Human Oversight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956048" y="148132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review before action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956048" y="1783080"/>
            <a:ext cx="37033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56048" y="1901952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Hardship plan decisions: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Offering restructured payment plans requires agent empathy and individual context — not automated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56048" y="2560320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Borderline cases (0.35–0.55):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near the threshold are reviewed by a collections agent before any escalation action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56048" y="3218688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&amp; fairness audits: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review of model outputs by demographic group to confirm no group is over-flagged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56048" y="3877056"/>
            <a:ext cx="3749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threshold changes: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change to the 0.5 decision threshold requires sign-off from risk management and analytics leads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Tata iQ — Geldium AI Collections System  |  Task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3035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RESPONSIBLE AI GUARDRAILS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Fairness, explainability, and compliance by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06240" cy="1783080"/>
          </a:xfrm>
          <a:prstGeom prst="rect">
            <a:avLst/>
          </a:prstGeom>
          <a:solidFill>
            <a:srgbClr val="1A3560"/>
          </a:solidFill>
          <a:ln w="1016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0789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05156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Fairness Checks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3192" y="1536192"/>
            <a:ext cx="3886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1627632"/>
            <a:ext cx="388620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delinquency rates compared across age, employment, and location groups quarterly. Any segment showing &gt;5% disparity vs. baseline triggers a model review. SMOTE oversampling used to prevent minority group underrepresentation in training data.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4206240" cy="1783080"/>
          </a:xfrm>
          <a:prstGeom prst="rect">
            <a:avLst/>
          </a:prstGeom>
          <a:solidFill>
            <a:srgbClr val="1A3560"/>
          </a:solidFill>
          <a:ln w="1016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789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05156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Explainability (SHAP)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73752" y="1536192"/>
            <a:ext cx="3886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73752" y="1627632"/>
            <a:ext cx="388620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high-risk prediction is accompanied by the top 3 SHAP features driving the decision (e.g., 'High DTI ratio, 2 missed payments last quarter, unemployed status'). Collections agents see plain-language explanations, not raw probability scores.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28600" y="2907792"/>
            <a:ext cx="4206240" cy="1783080"/>
          </a:xfrm>
          <a:prstGeom prst="rect">
            <a:avLst/>
          </a:prstGeom>
          <a:solidFill>
            <a:srgbClr val="1A3560"/>
          </a:solidFill>
          <a:ln w="10160">
            <a:solidFill>
              <a:srgbClr val="C9A84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07238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" y="304495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Regulatory Compliance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393192" y="3529584"/>
            <a:ext cx="3886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93192" y="3621024"/>
            <a:ext cx="388620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aligns with ECOA adverse action notice requirements — flagged customers can receive a clear explanation of contributing factors. Data handling and model use comply with applicable data protection standards including GDPR principles of data minimisation and purpose limitation.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09160" y="2907792"/>
            <a:ext cx="4206240" cy="1783080"/>
          </a:xfrm>
          <a:prstGeom prst="rect">
            <a:avLst/>
          </a:prstGeom>
          <a:solidFill>
            <a:srgbClr val="1A3560"/>
          </a:solidFill>
          <a:ln w="10160">
            <a:solidFill>
              <a:srgbClr val="C9A84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7238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7528" y="3044952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Ongoing Monitoring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873752" y="3529584"/>
            <a:ext cx="3886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73752" y="3621024"/>
            <a:ext cx="388620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evaluated quarterly on fresh holdout data. Key triggers for retraining: AUC-PR drops below 0.65, recall drops below 0.60, or macroeconomic shift flags are raised. All prediction logs retained for audit with 12-month retention policy.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Tata iQ — Geldium AI Collections System  |  Task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EXPECTED BUSINESS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Quantitative outcomes  ·  Customer outcomes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057400" cy="146304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54864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15–20%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920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 30-day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delinquency rate (pilot target)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868680"/>
            <a:ext cx="2057400" cy="146304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868680"/>
            <a:ext cx="54864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91440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60320" y="1627632"/>
            <a:ext cx="1920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 manual case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time for Collections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2057400" cy="146304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868680"/>
            <a:ext cx="54864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00600" y="1627632"/>
            <a:ext cx="1920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 in at-risk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identification precision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868680"/>
            <a:ext cx="2057400" cy="146304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868680"/>
            <a:ext cx="54864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91440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&lt;6 wks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1627632"/>
            <a:ext cx="19202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timeline to first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outcome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542032"/>
            <a:ext cx="4206240" cy="239572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33472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6112" y="2633472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Business KPIs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4048" y="3090672"/>
            <a:ext cx="3886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182112"/>
            <a:ext cx="38862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15–20% reduction in 30-day delinquency rate within one quarter of pilot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30% reduction in manual case handling through AI triage and automated low-risk outreach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Collections team ROI — outreach concentrated on customers with highest predicted impact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to full 500+ customer base within 3 months of successful pilot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2542032"/>
            <a:ext cx="4206240" cy="2395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633472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76672" y="2633472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Customer Outcomes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864608" y="3090672"/>
            <a:ext cx="3886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64608" y="3182112"/>
            <a:ext cx="388620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At-risk customers contacted earlier — before 30-day threshold, reducing credit damage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Supportive interventions (hardship plans, guidance) replace reactive punitive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Plain-language SHAP explanations ensure customers understand any decision affecting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 monitoring prevents disproportionate impact on unemployed or lower-income groups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Tata iQ — Geldium AI Collections System  |  Task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144"/>
          </a:solidFill>
          <a:ln w="12700">
            <a:solidFill>
              <a:srgbClr val="0F2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2377440"/>
            <a:ext cx="8979408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5029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Recommended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577840" y="384048"/>
            <a:ext cx="9601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384048"/>
            <a:ext cx="9601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2377440" cy="53035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457200"/>
            <a:ext cx="2331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data, standardise employment status, apply imputation; deploy model in staging environment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170432"/>
            <a:ext cx="9601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170432"/>
            <a:ext cx="9601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243584"/>
            <a:ext cx="2377440" cy="53035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243584"/>
            <a:ext cx="2331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outreach campaign — unemployed + DTI &gt;35% segment; track 30-day missed payment outcomes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1956816"/>
            <a:ext cx="9601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56816"/>
            <a:ext cx="9601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5–6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029968"/>
            <a:ext cx="2377440" cy="53035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029968"/>
            <a:ext cx="2331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pilot results against 15% delinquency reduction target; present findings to Geldium leadership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2743200"/>
            <a:ext cx="9601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43200"/>
            <a:ext cx="9601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2–3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816352"/>
            <a:ext cx="2377440" cy="53035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816352"/>
            <a:ext cx="2331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deployment across all risk segments; activate automated SMS for low-risk; human review for high-risk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3529584"/>
            <a:ext cx="9601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529584"/>
            <a:ext cx="9601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Ongoing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602736"/>
            <a:ext cx="2377440" cy="53035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602736"/>
            <a:ext cx="23317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model retraining, fairness audits, and threshold reviews; annual regulatory compliance check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80060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presentation was prepared by Kavya Balaji, Tata iQ, as part of the Geldium Finance AI Collections Strategy engagement.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4984</Words>
  <Application>WPS Presentation</Application>
  <PresentationFormat>On-screen Show (16:9)</PresentationFormat>
  <Paragraphs>193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 — Geldium Finance</dc:title>
  <dc:creator>PptxGenJS</dc:creator>
  <dc:subject>PptxGenJS Presentation</dc:subject>
  <cp:lastModifiedBy>DELL</cp:lastModifiedBy>
  <cp:revision>2</cp:revision>
  <dcterms:created xsi:type="dcterms:W3CDTF">2026-04-10T20:50:00Z</dcterms:created>
  <dcterms:modified xsi:type="dcterms:W3CDTF">2026-04-10T20:58:48Z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9DEB0652DAE948B59918E7484151A8A0_12</vt:lpwstr>
  </property>
  <property fmtid="{D5CDD505-2E9C-101B-9397-08002B2CF9AE}" pid="3" name="KSOProductBuildVer">
    <vt:lpwstr>1033-12.1.0.25830</vt:lpwstr>
  </property>
</Properties>
</file>